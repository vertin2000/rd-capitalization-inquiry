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开场不读封面，直接跳到第2页说金融问题。封面只在教室屏幕亮着即可。GitHub 公开仓库 URL 见报告。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这一页要讲清楚「我们做的是什么、不做什么」。「风险排序≠违规判定」要在这页就明确说出来，避免老师后面追问。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强调「挑战档」三个字——数据量和复杂度远超课程基本要求。150 份年报的 SHA256 审计确保没有重复文件，这是数据质量的基础。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 PPT 上放 Schema 的字段表截图或简表，不要列全部 14 个字段——列核心的 6-8 个即可。重点解释「为什么每个字段都要带 evidence_text」。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可以用中兴通讯年报的 MinerU 输出截图——展示 &lt;table&gt; 标签里的研发投入三行数值。这是最直观的「PDF 变成结构化数据」的证据。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不要在 PPT 上放完整代码——放一张 pipeline 流程图（箭头 + 阶段名），口头解释每个阶段做什么。强调「从 PDF 到混淆矩阵只需要一条命令」。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公式用 LaTeX 渲染或手写体展示。重点解释「为什么 I 是乘数不是加项」——这体现了审慎原则。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 Top-10 异常表放 PPT 上（或口头列出前3），口头指出「前 3 名资本化率 0% 但满分 50——这是行业百分位不分方向的局限」。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这是全场最关键的一页。一定要在 PPT 上展示 MinerU 输出的 Markdown 表格截图，旁边放 LLM 抽取的 JSON 结果。让老师看到 evidence_text 确实是原文片段。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这一页要诚实。不要试图掩饰 TP=0——直接说「正样本只有 1 条，所有策略 precision 都接近 0，在这个样本池上不存在可用的预测信号」。但强调「方法链路已经接通，问询闭环的工程管道可用」。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不要把这页念成「我们做得很差」——要念成「我们知道局限在哪里，而且每个局限都有对应的改进方向」。把局限分类讲（评分模型/抽取质量/标签），每类 1-2 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不要泛泛地说「AI 提高了效率」——要具体到「fuzziness 词表里『等』字导致所有记录的模糊度评分被无差别抬升」这种级别的案例。老师要看到你确实用了 AI，也知道 AI 错在哪里。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快速过（每点 5-10 秒），不要展开。重点是让老师看到「你知道自己项目哪里还不够好」——这本身就是学术素养的体现。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PPT 上只列问题关键词，不列完整答案——答案要能口头展开。如果时间紧，优先准备 Q1-Q3（老师最可能问的三个）。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研发资本化风险排序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与问询函可行性测试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150 份年报 PDF 的结构化抽取与风险评分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数据挖掘与机器学习 · 课程项目二 · 2026 年 6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金融问题：哪些研发资本化特征与交易所问询相关？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4709160"/>
            <a:ext cx="7498080" cy="7315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51560"/>
            <a:ext cx="2606040" cy="2103120"/>
          </a:xfrm>
          <a:prstGeom prst="rect">
            <a:avLst/>
          </a:prstGeom>
          <a:solidFill>
            <a:srgbClr val="F5F7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子问题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高资本化率是否更容易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与问询相关？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行业偏离度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51560"/>
            <a:ext cx="2606040" cy="2103120"/>
          </a:xfrm>
          <a:prstGeom prst="rect">
            <a:avLst/>
          </a:prstGeom>
          <a:solidFill>
            <a:srgbClr val="F5F7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143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子问题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14630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资本化率的剧烈变化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是否更容易与问询相关？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651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跨期变化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606040" cy="2103120"/>
          </a:xfrm>
          <a:prstGeom prst="rect">
            <a:avLst/>
          </a:prstGeom>
          <a:solidFill>
            <a:srgbClr val="F5F7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143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子问题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4630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资本化条件描述模糊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是否更容易与问询相关？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651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文本模糊度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定位：风险排序，不是违规判定。输出的是「复核清单」，不是「黑名单」。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数据来源与规模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709160"/>
            <a:ext cx="7498080" cy="7315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6012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数据来源：巨潮资讯网（www.cninfo.com.cn）公开公告，深证信官方 API（OAuth2 认证）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家公司 × 3 年（2021-2023）= 150 份年报 PDF，三大行业覆盖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医药制造 20 家 + 电子设备 20 家 + 软件信息 10 家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个唯一 SHA256，collision = 0 —— 数据去重完整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难度档位：🔴 挑战档（≥50 份 PDF、≥10 字段、多公告类型、闭环分析）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设计：观察单位与核心字段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709160"/>
            <a:ext cx="7498080" cy="7315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观察单位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000000"/>
                </a:solidFill>
              </a:rPr>
              <a:t>company-year（公司 × 年报年度）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设计原则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不训练 ML 模型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全部使用可解释的金融规则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每个关键字段带 evidence_text + page_no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96012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类型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capitalization_rate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核心自变量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industry_percentile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核心自变量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change_zscore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核心自变量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fuzziness_score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核心自变量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capitalization_related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因变量（问询标签）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evidence_text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证据字段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MinerU 解析与 Section 路由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709160"/>
            <a:ext cx="7498080" cy="7315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6012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MinerU API batch：150 份 PDF → Markdown，275 个 page segment 全部 success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超过 200 页的年报自动分段提交，保留 HTML 表格结构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路由：5 条规则（研发费用 / 开发支出 / 无形资产 / 资本化政策 / 收入确认）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关键词匹配 + 正负向打分，输出 750 行真实 corpus 数据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输出：outputs/reports/section_check_report.csv（完整可审计）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Workflow：13 阶段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709160"/>
            <a:ext cx="7498080" cy="7315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0"/>
            <a:ext cx="566928" cy="50292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8872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41248" y="1188720"/>
            <a:ext cx="73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→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914400" y="1188720"/>
            <a:ext cx="566928" cy="50292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18872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481328" y="1188720"/>
            <a:ext cx="73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→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554480" y="1188720"/>
            <a:ext cx="566928" cy="50292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118872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121408" y="1188720"/>
            <a:ext cx="73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→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194560" y="1188720"/>
            <a:ext cx="566928" cy="5029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94560" y="118872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761488" y="1188720"/>
            <a:ext cx="73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→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834640" y="1188720"/>
            <a:ext cx="566928" cy="50292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0" y="118872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01568" y="1188720"/>
            <a:ext cx="73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→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474720" y="1188720"/>
            <a:ext cx="566928" cy="5029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0" y="118872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041648" y="1188720"/>
            <a:ext cx="73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→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114800" y="1188720"/>
            <a:ext cx="566928" cy="5029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0" y="118872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81728" y="1188720"/>
            <a:ext cx="73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→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754880" y="1188720"/>
            <a:ext cx="566928" cy="5029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118872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321808" y="1188720"/>
            <a:ext cx="73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→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394960" y="1188720"/>
            <a:ext cx="566928" cy="50292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29" name="Text 27"/>
          <p:cNvSpPr/>
          <p:nvPr/>
        </p:nvSpPr>
        <p:spPr>
          <a:xfrm>
            <a:off x="5394960" y="118872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961888" y="1188720"/>
            <a:ext cx="73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→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035040" y="1188720"/>
            <a:ext cx="566928" cy="50292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0" y="118872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601968" y="1188720"/>
            <a:ext cx="73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→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675120" y="1188720"/>
            <a:ext cx="566928" cy="50292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118872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242048" y="1188720"/>
            <a:ext cx="73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→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315200" y="1188720"/>
            <a:ext cx="566928" cy="50292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0" y="118872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882128" y="1188720"/>
            <a:ext cx="73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→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955280" y="1188720"/>
            <a:ext cx="566928" cy="50292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41" name="Text 39"/>
          <p:cNvSpPr/>
          <p:nvPr/>
        </p:nvSpPr>
        <p:spPr>
          <a:xfrm>
            <a:off x="7955280" y="118872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48640" y="2057400"/>
            <a:ext cx="8046720" cy="45720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9728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确定性表格提取 + LLM 抽取双路线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9728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校验 + 会计恒等式（5% 阈值）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49" name="Text 47"/>
          <p:cNvSpPr/>
          <p:nvPr/>
        </p:nvSpPr>
        <p:spPr>
          <a:xfrm>
            <a:off x="685800" y="3246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9728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一键调度：uv run python src/main.py --from-stage validate --to-stage report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3840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🧪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9728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测试覆盖：51 个 pytest 用例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风险评分模型：四维信号聚合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709160"/>
            <a:ext cx="7498080" cy="7315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51560"/>
            <a:ext cx="2606040" cy="2011680"/>
          </a:xfrm>
          <a:prstGeom prst="rect">
            <a:avLst/>
          </a:prstGeom>
          <a:solidFill>
            <a:srgbClr val="F5F7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97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行业偏离度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Score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权重 0.25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资本化率在同行业同年度的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百分位 ×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51560"/>
            <a:ext cx="2606040" cy="2011680"/>
          </a:xfrm>
          <a:prstGeom prst="rect">
            <a:avLst/>
          </a:prstGeom>
          <a:solidFill>
            <a:srgbClr val="F5F7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097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跨期变化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Score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权重 0.25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仅取正向跳升（资本化率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突然上升），Z-score/2 × 100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606040" cy="2011680"/>
          </a:xfrm>
          <a:prstGeom prst="rect">
            <a:avLst/>
          </a:prstGeom>
          <a:solidFill>
            <a:srgbClr val="F5F7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097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条件模糊度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Fuzziness Score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权重 0.25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会计估计模糊词命中数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（文本长度/200）× 100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8046720" cy="594360"/>
          </a:xfrm>
          <a:prstGeom prst="rect">
            <a:avLst/>
          </a:prstGeom>
          <a:solidFill>
            <a:srgbClr val="1A2F3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3375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恒等式置信度乘数 I：金额关系越一致，置信度越高；不一致时打折扣而非加信号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= Σ(wᵢ·Sᵢ) / Σwᵢ  ×  I       默认 w 各 0.25，等权即 (IS+CS+FC)/3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当前结果：关键数字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709160"/>
            <a:ext cx="7498080" cy="7315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年报 PDF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全部通过 validate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68880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 / 67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46888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有风险分 / 未评分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no-score 默认非异常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11.57%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6344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资本化率均值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中位数 2.67%（n=60）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0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85800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异常条数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industry_outlier 16 + change_spike 1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017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资本化率均值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行业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医药制造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行业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电子设备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行业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软件信息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11.45%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异常组 vs 非异常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23.81% vs 6.73%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证据链：中兴通讯 2021 年报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709160"/>
            <a:ext cx="7498080" cy="7315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年报  →  MinerU Markdown  →  Section 定位  →  LLM 抽取  →  校验  →  最终结果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4206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金额（万元）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evidence_text（原文片段）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研发投入总额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1,880,400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「研发投入金额 18,804.0」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资本化金额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180,650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「资本化的金额 1,806.5」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费用化金额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1,699,750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「费用化的金额 16,997.5」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资本化率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「资本化研发投入占研发投入的比例 9.61%」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会计恒等式：180,650 + 1,699,750 = 1,880,400  ✓  差异 &lt; 0.01%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A3A"/>
                </a:solidFill>
              </a:rPr>
              <a:t>最终结果：</a:t>
            </a:r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风险分 35.715  ·  非异常  ·  TN  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闭环矩阵与 TN 水分：诚实呈现结果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709160"/>
            <a:ext cx="7498080" cy="7315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3840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34440"/>
                <a:gridCol w="12344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混淆矩阵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预测异常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预测非异常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实际异常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 = 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FN =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实际非异常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 = 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TN = 132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22860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Precision = 0.0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Recall = 0.0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Top-K Precision = 0.0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5F7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937760" y="10515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TN 水分 ⚠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D3A3A"/>
                </a:solidFill>
              </a:rPr>
              <a:t>TN = 132 中 67 条缺数据未评分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D3A3A"/>
                </a:solidFill>
              </a:rPr>
              <a:t>默认归非异常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DC2626"/>
                </a:solidFill>
              </a:rPr>
              <a:t>→ TN 被高估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D3A3A"/>
                </a:solidFill>
              </a:rPr>
              <a:t>唯一 FN：汇顶科技 2022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D3A3A"/>
                </a:solidFill>
              </a:rPr>
              <a:t>收到研发资本化相关监管工作函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D3A3A"/>
                </a:solidFill>
              </a:rPr>
              <a:t>但资本化率字段缺失，风险分=0.0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→ 问题出在输入覆盖，不是评分逻辑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 Baseline 对比（precision 全部 ≈ 0）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56432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97280"/>
                <a:gridCol w="1097280"/>
                <a:gridCol w="109728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预测数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规则评分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cap_rate top20%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全标正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失败案例与评估局限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709160"/>
            <a:ext cx="7498080" cy="7315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51560"/>
            <a:ext cx="2606040" cy="2743200"/>
          </a:xfrm>
          <a:prstGeom prst="rect">
            <a:avLst/>
          </a:prstGeom>
          <a:solidFill>
            <a:srgbClr val="F5F7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97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评分模型局限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行业百分位不分方向（0% 资本化率也得满分）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参数全部启发式、未校准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051560"/>
            <a:ext cx="2606040" cy="2743200"/>
          </a:xfrm>
          <a:prstGeom prst="rect">
            <a:avLst/>
          </a:prstGeom>
          <a:solidFill>
            <a:srgbClr val="F5F7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097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抽取质量（35 条人工评估）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0440" y="150876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准确率 46.4%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section_error 27 / data_error 20 / hallucination 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 agent 与 extractor 同源 LLM——共错风险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051560"/>
            <a:ext cx="2606040" cy="2743200"/>
          </a:xfrm>
          <a:prstGeom prst="rect">
            <a:avLst/>
          </a:prstGeom>
          <a:solidFill>
            <a:srgbClr val="F5F7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097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问询标签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150876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版本（关键词剪枝 + LLM 语义初筛）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正样本仅 1 条，统计上无法评估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其他：page_no 缺失、跨期变化仅覆盖两年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每个局限都有对应的改进方向 —— 详见报告 §13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Coding 反思：AI 帮了什么、错在哪、如何验证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709160"/>
            <a:ext cx="7498080" cy="7315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60120"/>
            <a:ext cx="3840480" cy="292608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AI 帮了什么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全流程 13 阶段代码生成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MinerU 环境 bug 逐层诊断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方法论审计（fuzziness 词表去毒、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change_zscore 方向修正、industry 显式化）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023360" cy="292608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AI 在哪里出错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fuzziness 词表含「等/相关/未来」（未看数据就设词表）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change_zscore 用 abs()（没区分上升/下降的经济含义）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行业靠顺序推断（文档声称申万一级，代码实际靠猜）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文档 overclaim（「异常检测」「闭环验证」→ 改为「风险排序」「可行性测试」）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1A2F3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如何验证：硬数字强制溯源 loop_evaluation.json + 51 个 pytest + mini pipeline + 35 条人工抽查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个已知局限与下一步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709160"/>
            <a:ext cx="7498080" cy="7315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3931920" cy="50292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05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正样本太少（1/150）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931920" cy="50292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TN 含水（67/132 条未评分默认非异常）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931920" cy="50292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问询标签 MVP 版本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3931920" cy="50292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26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page_no 缺失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50292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005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抽取准确率 46.4%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645920"/>
            <a:ext cx="3931920" cy="50292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参数全部启发式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3931920" cy="50292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评估 agent 与 extractor 同源 LLM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3931920" cy="502920"/>
          </a:xfrm>
          <a:prstGeom prst="rect">
            <a:avLst/>
          </a:prstGeom>
          <a:solidFill>
            <a:srgbClr val="F5F7F8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926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行业百分位不分方向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如果有更多时间 → 扩大公司池 · 全文语义标签 · 参数敏感性分析 · 抽取质量提升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答辩问题预案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4572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868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TP=0，这项目还有什么意义？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34840" y="868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方法链路已可工作，正样本少是数据特征而非方法失败。诚实呈现「信号不足」本身就是科学结论。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90472"/>
            <a:ext cx="4572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904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1490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为什么不用 ML 模型？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14904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课程明确「不训练大模型」；规则评分可解释，每个维度的金融含义清晰，适合审计师/分析师场景。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112264"/>
            <a:ext cx="4572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122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21122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问询标签怎么做的？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4840" y="21122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当前是 MVP（关键词剪枝+LLM 初筛）。全文语义标签是下一步，受限于时间和 API 成本。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734056"/>
            <a:ext cx="4572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3405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273405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人工评估 46.4% 的准确率能接受吗？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34840" y="273405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不能接受作为最终产品，但能接受作为 MVP。诚实标注了同源 LLM 共错风险，主要错误类型已定位。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355848"/>
            <a:ext cx="4572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55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3355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Q5: 资本化率 0% 为什么风险分满分？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4840" y="33558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行业百分位的设计 bug——只度量偏离度不区分方向。已在局限中如实说明。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4572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77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Q6: 50 家公司怎么选的？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34840" y="3977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申万一级分类（医药制造/电子设备/软件信息），crawl.yaml 显式配置。覆盖研发密集型行业。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优先准备 Q1-Q3（老师最可能问的三个）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研发资本化风险排序与问询函可行性测试</dc:title>
  <dc:subject>Data Mining &amp; Machine Learning Course Project 2</dc:subject>
  <dc:creator>R&amp;D Capitalization Risk Screening Team</dc:creator>
  <cp:lastModifiedBy>R&amp;D Capitalization Risk Screening Team</cp:lastModifiedBy>
  <cp:revision>1</cp:revision>
  <dcterms:created xsi:type="dcterms:W3CDTF">2026-06-20T20:25:57Z</dcterms:created>
  <dcterms:modified xsi:type="dcterms:W3CDTF">2026-06-20T20:25:57Z</dcterms:modified>
</cp:coreProperties>
</file>